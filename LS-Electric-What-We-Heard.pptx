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3200400"/>
          </a:xfrm>
          <a:prstGeom prst="rect">
            <a:avLst/>
          </a:prstGeom>
          <a:solidFill>
            <a:srgbClr val="014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4D2F0"/>
                </a:solidFill>
              </a:rPr>
              <a:t>DISCOVERY DEBRIEF  · 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We Heard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320040"/>
            <a:ext cx="2651760" cy="868680"/>
          </a:xfrm>
          <a:prstGeom prst="rect">
            <a:avLst/>
          </a:prstGeom>
          <a:solidFill>
            <a:srgbClr val="014486"/>
          </a:solidFill>
          <a:ln w="6350">
            <a:solidFill>
              <a:srgbClr val="50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0" y="3474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LS Electric America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5943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C8F0"/>
                </a:solidFill>
              </a:rPr>
              <a:t>Andy Urda, VP Marketing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63040"/>
            <a:ext cx="3566160" cy="2148840"/>
          </a:xfrm>
          <a:prstGeom prst="rect">
            <a:avLst/>
          </a:prstGeom>
          <a:solidFill>
            <a:srgbClr val="04376E"/>
          </a:solidFill>
          <a:ln w="9525">
            <a:solidFill>
              <a:srgbClr val="1E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6002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EC8E3"/>
                </a:solidFill>
              </a:rPr>
              <a:t>⚙  FRAGMENTED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901952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EBFA"/>
                </a:solidFill>
              </a:rPr>
              <a:t>HubSpot + ZoomInfo + Power Automate + SharePoint — stitched together, not integrated. Too many logins, too much manual glue.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761488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C3E6"/>
                </a:solidFill>
              </a:rPr>
              <a:t>"I feel like I'm Jeff Bezos starting Amazon… 13 different software programs."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463040"/>
            <a:ext cx="3566160" cy="2148840"/>
          </a:xfrm>
          <a:prstGeom prst="rect">
            <a:avLst/>
          </a:prstGeom>
          <a:solidFill>
            <a:srgbClr val="04376E"/>
          </a:solidFill>
          <a:ln w="9525">
            <a:solidFill>
              <a:srgbClr val="1E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6002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EC8E3"/>
                </a:solidFill>
              </a:rPr>
              <a:t>⏱  SPEED TO 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1901952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EBFA"/>
                </a:solidFill>
              </a:rPr>
              <a:t>Qualified leads go stale in the nurture queue. Wants a real person on it fast — automated warming is too slow for high-intent signals.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761488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C3E6"/>
                </a:solidFill>
              </a:rPr>
              <a:t>"Fresh bread out of the oven goes stale. The window closes."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463040"/>
            <a:ext cx="3566160" cy="2148840"/>
          </a:xfrm>
          <a:prstGeom prst="rect">
            <a:avLst/>
          </a:prstGeom>
          <a:solidFill>
            <a:srgbClr val="04376E"/>
          </a:solidFill>
          <a:ln w="9525">
            <a:solidFill>
              <a:srgbClr val="1E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2" y="16002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EC8E3"/>
                </a:solidFill>
              </a:rPr>
              <a:t>→  REP ROUTING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1901952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EBFA"/>
                </a:solidFill>
              </a:rPr>
              <a:t>Hybrid org of direct + independent reps. HubSpot can't route leads to non-seated reps — the #1 reason they moved and it still isn't solved.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2" y="2761488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C3E6"/>
                </a:solidFill>
              </a:rPr>
              <a:t>"Guess what? That's not exactly true today."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76472"/>
            <a:ext cx="3566160" cy="2148840"/>
          </a:xfrm>
          <a:prstGeom prst="rect">
            <a:avLst/>
          </a:prstGeom>
          <a:solidFill>
            <a:srgbClr val="04376E"/>
          </a:solidFill>
          <a:ln w="9525">
            <a:solidFill>
              <a:srgbClr val="1E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9136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EC8E3"/>
                </a:solidFill>
              </a:rPr>
              <a:t>◈  AI CROSS-SELL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4215384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EBFA"/>
                </a:solidFill>
              </a:rPr>
              <a:t>Wants AI to mine ERP history and surface look-alike accounts not buying a given product — proactive, intelligence-driven outreach.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5074920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C3E6"/>
                </a:solidFill>
              </a:rPr>
              <a:t>"That's marketing intelligence I could actually use."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776472"/>
            <a:ext cx="3566160" cy="2148840"/>
          </a:xfrm>
          <a:prstGeom prst="rect">
            <a:avLst/>
          </a:prstGeom>
          <a:solidFill>
            <a:srgbClr val="04376E"/>
          </a:solidFill>
          <a:ln w="9525">
            <a:solidFill>
              <a:srgbClr val="1E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39136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EC8E3"/>
                </a:solidFill>
              </a:rPr>
              <a:t>✉  INBOUND PO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4215384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EBFA"/>
                </a:solidFill>
              </a:rPr>
              <a:t>Customers email PDF purchase orders. Portal should read the PDF, populate the form, and auto-flag missing fields — zero human touchpoints.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5074920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C3E6"/>
                </a:solidFill>
              </a:rPr>
              <a:t>"We did OCR 20 years ago at Yaskawa. This isn't new."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3776472"/>
            <a:ext cx="3566160" cy="2148840"/>
          </a:xfrm>
          <a:prstGeom prst="rect">
            <a:avLst/>
          </a:prstGeom>
          <a:solidFill>
            <a:srgbClr val="04376E"/>
          </a:solidFill>
          <a:ln w="9525">
            <a:solidFill>
              <a:srgbClr val="1E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2" y="39136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EC8E3"/>
                </a:solidFill>
              </a:rPr>
              <a:t>▲  SCALE DEMANDS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2" y="4215384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EBFA"/>
                </a:solidFill>
              </a:rPr>
              <a:t>Revenue: $50M → $750M → $1.5B+ this year. Data center boom accelerating. Manual workarounds won't hold at this growth rate.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2" y="5074920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C3E6"/>
                </a:solidFill>
              </a:rPr>
              <a:t>"A lot of that growth is into data centers."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8A0C8"/>
                </a:solidFill>
              </a:rPr>
              <a:t>Confidential  ·  Salesforce Manufacturing &amp; Automotive West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651052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A1E0"/>
                </a:solidFill>
              </a:rPr>
              <a:t>salesforce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