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1417320"/>
          </a:xfrm>
          <a:prstGeom prst="rect">
            <a:avLst/>
          </a:prstGeom>
          <a:solidFill>
            <a:srgbClr val="08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A73A5"/>
                </a:solidFill>
              </a:rPr>
              <a:t>SMEAD MANUFACTURING  ·  DISCOVERY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What We Heard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1E0"/>
                </a:solidFill>
              </a:rPr>
              <a:t>Marketing Cloud Advanced  +  Commerce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89720" y="201168"/>
            <a:ext cx="2743200" cy="841248"/>
          </a:xfrm>
          <a:prstGeom prst="rect">
            <a:avLst/>
          </a:prstGeom>
          <a:solidFill>
            <a:srgbClr val="0A1437"/>
          </a:solidFill>
          <a:ln w="9525">
            <a:solidFill>
              <a:srgbClr val="00A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08592" y="23774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Al Aarons &amp; Gayle Taylor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08592" y="512064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6AFD7"/>
                </a:solidFill>
              </a:rPr>
              <a:t>VP Marketing  ·  Hastings, 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8592" y="71323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73A5"/>
                </a:solidFill>
              </a:rPr>
              <a:t>$500M Revenue  ·  1,000 Employees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08176"/>
            <a:ext cx="11274552" cy="22860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517904"/>
            <a:ext cx="3630168" cy="2212848"/>
          </a:xfrm>
          <a:prstGeom prst="rect">
            <a:avLst/>
          </a:prstGeom>
          <a:solidFill>
            <a:srgbClr val="0E1A3C"/>
          </a:solidFill>
          <a:ln w="6350">
            <a:solidFill>
              <a:srgbClr val="19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517904"/>
            <a:ext cx="41148" cy="2212848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627631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85A"/>
                </a:solidFill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645919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Channel Data Is Siloed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029967"/>
            <a:ext cx="335584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6AFD7"/>
                </a:solidFill>
              </a:rPr>
              <a:t>Office Depot, Amazon, and resellers each see a different version of the Smead customer. No unified record means no unified strategy.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3090672"/>
            <a:ext cx="3300984" cy="14630"/>
          </a:xfrm>
          <a:prstGeom prst="rect">
            <a:avLst/>
          </a:prstGeom>
          <a:solidFill>
            <a:srgbClr val="14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154680"/>
            <a:ext cx="3355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D4B4"/>
                </a:solidFill>
              </a:rPr>
              <a:t>→  Forrester TEI (mfg): 289% ROI · $9.6M NPV for a $1B manufacturer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8536" y="1517904"/>
            <a:ext cx="3630168" cy="2212848"/>
          </a:xfrm>
          <a:prstGeom prst="rect">
            <a:avLst/>
          </a:prstGeom>
          <a:solidFill>
            <a:srgbClr val="0E1A3C"/>
          </a:solidFill>
          <a:ln w="6350">
            <a:solidFill>
              <a:srgbClr val="19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8536" y="1517904"/>
            <a:ext cx="41148" cy="2212848"/>
          </a:xfrm>
          <a:prstGeom prst="rect">
            <a:avLst/>
          </a:prstGeom>
          <a:solidFill>
            <a:srgbClr val="00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34656" y="1627631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85A"/>
                </a:solidFill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1645919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Brand Equity Without Digital Loyalty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2029967"/>
            <a:ext cx="335584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6AFD7"/>
                </a:solidFill>
              </a:rPr>
              <a:t>100+ years of recognition doesn't drive repeat online purchase. Buyers don't default to Smead digitally without personalized, behavioral engagement.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53128" y="3090672"/>
            <a:ext cx="3300984" cy="14630"/>
          </a:xfrm>
          <a:prstGeom prst="rect">
            <a:avLst/>
          </a:prstGeom>
          <a:solidFill>
            <a:srgbClr val="14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3154680"/>
            <a:ext cx="3355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D4B4"/>
                </a:solidFill>
              </a:rPr>
              <a:t>→  Kitchen Magic: 100% manual campaigns → fully automated with MCA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9872" y="1517904"/>
            <a:ext cx="3630168" cy="2212848"/>
          </a:xfrm>
          <a:prstGeom prst="rect">
            <a:avLst/>
          </a:prstGeom>
          <a:solidFill>
            <a:srgbClr val="0E1A3C"/>
          </a:solidFill>
          <a:ln w="6350">
            <a:solidFill>
              <a:srgbClr val="19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9872" y="1517904"/>
            <a:ext cx="41148" cy="22128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65992" y="1627631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85A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1645919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Marketing Running on Point Solutions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2029967"/>
            <a:ext cx="335584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6AFD7"/>
                </a:solidFill>
              </a:rPr>
              <a:t>HubSpot + Klaviyo handle email — they don't connect campaign response to purchase history, reseller data, or buyer intent signals.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84464" y="3090672"/>
            <a:ext cx="3300984" cy="14630"/>
          </a:xfrm>
          <a:prstGeom prst="rect">
            <a:avLst/>
          </a:prstGeom>
          <a:solidFill>
            <a:srgbClr val="14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3154680"/>
            <a:ext cx="3355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D4B4"/>
                </a:solidFill>
              </a:rPr>
              <a:t>→  Sutton Tools: 4x increase in online orders after platform unification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58768"/>
            <a:ext cx="3630168" cy="2212848"/>
          </a:xfrm>
          <a:prstGeom prst="rect">
            <a:avLst/>
          </a:prstGeom>
          <a:solidFill>
            <a:srgbClr val="0E1A3C"/>
          </a:solidFill>
          <a:ln w="6350">
            <a:solidFill>
              <a:srgbClr val="19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858768"/>
            <a:ext cx="41148" cy="2212848"/>
          </a:xfrm>
          <a:prstGeom prst="rect">
            <a:avLst/>
          </a:prstGeom>
          <a:solidFill>
            <a:srgbClr val="00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396849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85A"/>
                </a:solidFill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986783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Resellers Lack Self-Serve Commerce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4370831"/>
            <a:ext cx="335584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6AFD7"/>
                </a:solidFill>
              </a:rPr>
              <a:t>Channel partners still ordering by phone, email, and clunky portals. A modern B2B storefront reduces friction and captures order volume 24/7.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" y="5431536"/>
            <a:ext cx="3300984" cy="14630"/>
          </a:xfrm>
          <a:prstGeom prst="rect">
            <a:avLst/>
          </a:prstGeom>
          <a:solidFill>
            <a:srgbClr val="14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495544"/>
            <a:ext cx="3355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D4B4"/>
                </a:solidFill>
              </a:rPr>
              <a:t>→  Carlini Gomme: €200M+ in B2B orders on Commerce Cloud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8536" y="3858768"/>
            <a:ext cx="3630168" cy="2212848"/>
          </a:xfrm>
          <a:prstGeom prst="rect">
            <a:avLst/>
          </a:prstGeom>
          <a:solidFill>
            <a:srgbClr val="0E1A3C"/>
          </a:solidFill>
          <a:ln w="6350">
            <a:solidFill>
              <a:srgbClr val="19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88536" y="3858768"/>
            <a:ext cx="41148" cy="22128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34656" y="396849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85A"/>
                </a:solidFill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128" y="3986783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No Single Buyer Profile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3128" y="4370831"/>
            <a:ext cx="335584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6AFD7"/>
                </a:solidFill>
              </a:rPr>
              <a:t>Procurement leads, office managers, and retail buyers are treated as separate entities. Without Data Cloud, personalization at scale isn't possible.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53128" y="5431536"/>
            <a:ext cx="3300984" cy="14630"/>
          </a:xfrm>
          <a:prstGeom prst="rect">
            <a:avLst/>
          </a:prstGeom>
          <a:solidFill>
            <a:srgbClr val="14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53128" y="5495544"/>
            <a:ext cx="3355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D4B4"/>
                </a:solidFill>
              </a:rPr>
              <a:t>→  Siemens: One of the largest B2B Commerce deployments on the planet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19872" y="3858768"/>
            <a:ext cx="3630168" cy="2212848"/>
          </a:xfrm>
          <a:prstGeom prst="rect">
            <a:avLst/>
          </a:prstGeom>
          <a:solidFill>
            <a:srgbClr val="0E1A3C"/>
          </a:solidFill>
          <a:ln w="6350">
            <a:solidFill>
              <a:srgbClr val="19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19872" y="3858768"/>
            <a:ext cx="41148" cy="2212848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365992" y="396849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285A"/>
                </a:solidFill>
              </a:rPr>
              <a:t>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84464" y="3986783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Digital Is the Primary Buying Channel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4464" y="4370831"/>
            <a:ext cx="335584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6AFD7"/>
                </a:solidFill>
              </a:rPr>
              <a:t>Office supply decisions are made online. Without real-time targeting and behavioral segmentation, Smead loses the digital shelf to commoditized alternatives.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4464" y="5431536"/>
            <a:ext cx="3300984" cy="14630"/>
          </a:xfrm>
          <a:prstGeom prst="rect">
            <a:avLst/>
          </a:prstGeom>
          <a:solidFill>
            <a:srgbClr val="14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4464" y="5495544"/>
            <a:ext cx="3355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D4B4"/>
                </a:solidFill>
              </a:rPr>
              <a:t>→  Manufacturing is B2B Commerce's #1 vertical by revenue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8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684264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73A5"/>
                </a:solidFill>
              </a:rPr>
              <a:t>Confidential  ·  Salesforce Manufacturing &amp; Automotive West  ·  Anthony Troggio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6684264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00A1E0"/>
                </a:solidFill>
              </a:rPr>
              <a:t>salesforce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